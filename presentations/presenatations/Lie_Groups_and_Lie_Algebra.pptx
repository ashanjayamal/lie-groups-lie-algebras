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Groups and Lie Algebra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Ashan De Silva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Mathematics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Manitoba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303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7,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6002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Lie Groups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847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and basic properties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2402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Lie Groups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48716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groups and matrix groups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880360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8803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Algebras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312724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tangent space perspective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5204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Exponential Map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376732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groups and algebras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4160520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41605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440740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and geometry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Lie Groups?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Geometry and Algebra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Lie Group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2286000"/>
          </a:xfrm>
          <a:prstGeom prst="rect">
            <a:avLst/>
          </a:prstGeom>
          <a:solidFill>
            <a:srgbClr val="E8F4F8"/>
          </a:solidFill>
          <a:ln w="38100">
            <a:solidFill>
              <a:srgbClr val="2C5F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Lie group is a smooth manifold G that is also a group, such that: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group multiplication map is smooth: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26060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μ: G × G → G,    (g, h) ↦ gh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0175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inverse map is smooth: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0" y="33375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ι: G → G,    g ↦ g⁻¹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7680960" cy="822960"/>
          </a:xfrm>
          <a:prstGeom prst="rect">
            <a:avLst/>
          </a:prstGeom>
          <a:solidFill>
            <a:srgbClr val="FFF9E6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44805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groups blend continuous symmetry (manifold structure) with algebraic operations (group structure).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Understanding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840480" cy="1645920"/>
          </a:xfrm>
          <a:prstGeom prst="rect">
            <a:avLst/>
          </a:prstGeom>
          <a:solidFill>
            <a:srgbClr val="E8F4F8"/>
          </a:solidFill>
          <a:ln w="25400">
            <a:solidFill>
              <a:srgbClr val="2C5F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Manifold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Smooth, continuous space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Has tangent vectors at each point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do calculus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Locally looks like ℝⁿ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840480" cy="1645920"/>
          </a:xfrm>
          <a:prstGeom prst="rect">
            <a:avLst/>
          </a:prstGeom>
          <a:solidFill>
            <a:srgbClr val="FFF9E6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Group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19659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multiply elements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Has identity element 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element has inverse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Multiplication is associative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7863840" cy="1188720"/>
          </a:xfrm>
          <a:prstGeom prst="rect">
            <a:avLst/>
          </a:prstGeom>
          <a:solidFill>
            <a:srgbClr val="F0E6FF"/>
          </a:solidFill>
          <a:ln w="38100">
            <a:solidFill>
              <a:srgbClr val="7B68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The Magic: These Two Structures Are Compatible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9319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operations (multiplication and inverse) respect the smooth structure. This means we can use calculus to study symmetries!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The Circle Group S¹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657600" cy="3200400"/>
          </a:xfrm>
          <a:prstGeom prst="rect">
            <a:avLst/>
          </a:prstGeom>
          <a:solidFill>
            <a:srgbClr val="F8F9FA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The unit circle in the complex plane: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S¹ = {z ∈ ℂ : |z| = 1}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= {e^(iθ) : θ ∈ [0, 2π)}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32004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Group operation: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z₁ · z₂ = e^(iθ₁) · e^(iθ₂) = e^(i(θ₁+θ₂))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Identity: e^(i·0) = 1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Inverse: (e^(iθ))⁻¹ = e^(-iθ)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View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= Rotation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by angle θ₁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by angle θ₂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by angle θ₁ + θ₂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0" y="3931920"/>
            <a:ext cx="3108960" cy="5486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977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S¹ models rotational symmetry!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General Linear Group GL(n,ℝ)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solidFill>
            <a:srgbClr val="F8F9FA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87452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The group of invertible n×n real matrices: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GL(n,ℝ) = {A ∈ Mat(n×n,ℝ) : det(A) ≠ 0}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6949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Manifold structure: Open subset of ℝⁿ²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(condition det(A) ≠ 0 defines open set)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 operation: Matrix multiplication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Identity: I_n (identity matrix)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Inverse: A⁻¹ (matrix inverse)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Dimension: n² as a manifold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Lie Groups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36192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7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SL(n,ℝ)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651760" y="1536192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Linear Group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536192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with det(A) =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0" y="1536192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dim = n² - 1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7863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76272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7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O(n)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2176272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Group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176272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AᵀA = I (preserves inner product)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89520" y="2176272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dim = n(n-1)/2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816352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7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SO(n)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51760" y="2816352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Orthogonal Group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816352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with det(A) = 1 (rotations)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89520" y="2816352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dim = n(n-1)/2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7863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456432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7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U(n)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651760" y="3456432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Group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3456432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A*A = I in ℂⁿ×ⁿ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0" y="3456432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dim = n²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096512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7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Sp(2n,ℝ)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651760" y="4096512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Symplectic Group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4096512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symplectic form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89520" y="4096512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dim = n(2n+1)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Algebras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Infinitesimal Structure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Lie Algebra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2011680"/>
          </a:xfrm>
          <a:prstGeom prst="rect">
            <a:avLst/>
          </a:prstGeom>
          <a:solidFill>
            <a:srgbClr val="E8F4F8"/>
          </a:solidFill>
          <a:ln w="38100">
            <a:solidFill>
              <a:srgbClr val="2C5F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Lie algebra is a vector space 𝔤 equipped with a bilinear operation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· , · ] : 𝔤 × 𝔤 → 𝔤   called the Lie bracket, satisfying: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237744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1. Antisymmetry:  [X, Y] = -[Y, X]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2. Jacobi identity:  [X, [Y, Z]] + [Y, [Z, X]] + [Z, [X, Y]] = 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7680960" cy="1188720"/>
          </a:xfrm>
          <a:prstGeom prst="rect">
            <a:avLst/>
          </a:prstGeom>
          <a:solidFill>
            <a:srgbClr val="FFF9E6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Lie Groups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411480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Lie group G, its Lie algebra 𝔤 = T_e G is the tangent space at the identity.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Lie bracket captures how tangent vectors "fail to commute" in the group.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Lie Algebra of GL(n,ℝ)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solidFill>
            <a:srgbClr val="F8F9FA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The Lie algebra of GL(n,ℝ) is: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𝔤𝔩(n,ℝ) = Mat(n×n, ℝ)  (all n×n real matrices)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Bracket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320040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The Lie bracket is the matrix commutator: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[A, B] = AB - BA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of Properties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44348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✓ Antisymmetry:  [A, B] = AB - BA = -(BA - AB) = -[B, A]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✓ Jacobi identity:  Can be verified by direct computation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Exponential Map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solidFill>
            <a:srgbClr val="E8F4F8"/>
          </a:solidFill>
          <a:ln w="38100">
            <a:solidFill>
              <a:srgbClr val="2C5F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The exponential map  exp: 𝔤 → G  is defined by: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exp(X) = e^X = I + X + X²/2! + X³/3! + ...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3657600" cy="2103120"/>
          </a:xfrm>
          <a:prstGeom prst="rect">
            <a:avLst/>
          </a:prstGeom>
          <a:solidFill>
            <a:srgbClr val="FFF9E6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88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1. exp(0) = e (identity)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2. exp(tX) is a 1-parameter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subgroup for each X ∈ 𝔤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3. d/dt exp(tX)|ₜ₌₀ = X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4. exp is a local diffeomorphism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near 0 ∈ 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651760"/>
            <a:ext cx="3657600" cy="2103120"/>
          </a:xfrm>
          <a:prstGeom prst="rect">
            <a:avLst/>
          </a:prstGeom>
          <a:solidFill>
            <a:srgbClr val="F0E6FF"/>
          </a:solidFill>
          <a:ln w="25400">
            <a:solidFill>
              <a:srgbClr val="7B68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788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Meaning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31546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exponential map takes: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Tangent vectors at identity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(infinitesimal symmetries)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 elements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(actual symmetries)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Exponential of Matrices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Diagonal Matrix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18745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If X = diag(λ₁, λ₂, ..., λₙ), then: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exp(X) = diag(e^λ₁, e^λ₂, ..., e^λₙ)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Rotation Matrix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315468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the 2×2 skew-symmetric matrix: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[  0   θ ]     exp(X) = [ cos θ   sin θ ]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 -θ   0 ]             [ -sin θ  cos θ ]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gives a rotation by angle θ!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exponential map converts infinitesimal rotations into actual rotations!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 Lie Theory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7680960" cy="1051560"/>
          </a:xfrm>
          <a:prstGeom prst="rect">
            <a:avLst/>
          </a:prstGeom>
          <a:solidFill>
            <a:srgbClr val="F8F9FA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⚛️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6304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Quantum mechanics: Angular momentum, spin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Particle physics: Gauge theories, Standard Model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General relativity: Lorentz group, spacetime symmetries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7680960" cy="1051560"/>
          </a:xfrm>
          <a:prstGeom prst="rect">
            <a:avLst/>
          </a:prstGeom>
          <a:solidFill>
            <a:srgbClr val="F8F9FA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Geometry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31089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Isometry groups of Riemannian manifolds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Holonomy groups and parallel transport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Symmetric spaces and homogeneous spaces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7680960" cy="1051560"/>
          </a:xfrm>
          <a:prstGeom prst="rect">
            <a:avLst/>
          </a:prstGeom>
          <a:solidFill>
            <a:srgbClr val="F8F9FA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🎮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6304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Theory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429768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Robotics: Configuration spaces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Nonlinear control systems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Optimal control on manifolds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856232"/>
            <a:ext cx="228600" cy="2286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562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18288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groups combine smooth manifold structure with group structure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359152"/>
            <a:ext cx="228600" cy="2286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591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3317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examples: GL(n,ℝ), SO(n), SU(n) - fundamental in mathematics and physics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862072"/>
            <a:ext cx="228600" cy="2286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620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834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algebras are the "infinitesimal" version - tangent space at identity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364992"/>
            <a:ext cx="228600" cy="2286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3649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33375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exponential map connects Lie algebras to Lie groups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3867912"/>
            <a:ext cx="228600" cy="2286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86791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8404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span physics, geometry, control theory, and beyond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4389120"/>
            <a:ext cx="7680960" cy="548640"/>
          </a:xfrm>
          <a:prstGeom prst="rect">
            <a:avLst/>
          </a:prstGeom>
          <a:solidFill>
            <a:srgbClr val="F0E6FF"/>
          </a:solidFill>
          <a:ln w="25400">
            <a:solidFill>
              <a:srgbClr val="7B68B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434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Further Study: Representation theory, Homogeneous spaces, Lie group cohomology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Ashan De Silva</a:t>
            </a:r>
            <a:endParaRPr lang="en-US" sz="16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Mathematics, University of Manitoba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University of Manitoba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Lie Groups and Lie Algebra</dc:title>
  <dc:subject>Lie Groups and Lie Algebra</dc:subject>
  <dc:creator>Ashan De Silva</dc:creator>
  <cp:lastModifiedBy>Ashan De Silva</cp:lastModifiedBy>
  <cp:revision>1</cp:revision>
  <dcterms:created xsi:type="dcterms:W3CDTF">2026-02-07T11:08:56Z</dcterms:created>
  <dcterms:modified xsi:type="dcterms:W3CDTF">2026-02-07T11:08:56Z</dcterms:modified>
</cp:coreProperties>
</file>